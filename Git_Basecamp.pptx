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Git Introduction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984738"/>
            <a:ext cx="4937760" cy="4389120"/>
          </a:xfrm>
          <a:prstGeom prst="roundRect">
            <a:avLst/>
          </a:prstGeom>
          <a:solidFill>
            <a:srgbClr val="FFFFF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43891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2F3D"/>
                </a:solidFill>
              </a:defRPr>
            </a:pPr>
            <a:r>
              <a:t>What is Git?</a:t>
            </a:r>
          </a:p>
          <a:p>
            <a:pPr>
              <a:defRPr sz="2000">
                <a:solidFill>
                  <a:srgbClr val="212F3D"/>
                </a:solidFill>
              </a:defRPr>
            </a:pPr>
            <a:r>
              <a:t>Distributed Version Control System</a:t>
            </a:r>
          </a:p>
          <a:p>
            <a:pPr>
              <a:defRPr sz="2000">
                <a:solidFill>
                  <a:srgbClr val="212F3D"/>
                </a:solidFill>
              </a:defRPr>
            </a:pPr>
            <a:r>
              <a:t>Why developers use Git</a:t>
            </a:r>
          </a:p>
          <a:p>
            <a:pPr>
              <a:defRPr sz="2000">
                <a:solidFill>
                  <a:srgbClr val="212F3D"/>
                </a:solidFill>
              </a:defRPr>
            </a:pPr>
            <a:r>
              <a:t>Benefits in DevOps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80" y="1016391"/>
            <a:ext cx="5303520" cy="4114800"/>
          </a:xfrm>
          <a:prstGeom prst="roundRect">
            <a:avLst/>
          </a:prstGeom>
          <a:solidFill>
            <a:srgbClr val="212F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0" y="1463040"/>
            <a:ext cx="475488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ECC71"/>
                </a:solidFill>
                <a:latin typeface="Courier New"/>
              </a:defRPr>
            </a:pPr>
            <a:r>
              <a:rPr dirty="0"/>
              <a:t>What is Git?</a:t>
            </a:r>
          </a:p>
          <a:p>
            <a:pPr>
              <a:defRPr sz="1800">
                <a:solidFill>
                  <a:srgbClr val="2ECC71"/>
                </a:solidFill>
                <a:latin typeface="Courier New"/>
              </a:defRPr>
            </a:pPr>
            <a:r>
              <a:rPr dirty="0"/>
              <a:t>Distributed Version Control System</a:t>
            </a:r>
          </a:p>
          <a:p>
            <a:pPr>
              <a:defRPr sz="1800">
                <a:solidFill>
                  <a:srgbClr val="2ECC71"/>
                </a:solidFill>
                <a:latin typeface="Courier New"/>
              </a:defRPr>
            </a:pPr>
            <a:r>
              <a:rPr dirty="0"/>
              <a:t>git status</a:t>
            </a:r>
          </a:p>
          <a:p>
            <a:pPr>
              <a:defRPr sz="1800">
                <a:solidFill>
                  <a:srgbClr val="2ECC71"/>
                </a:solidFill>
                <a:latin typeface="Courier New"/>
              </a:defRPr>
            </a:pPr>
            <a:r>
              <a:rPr dirty="0"/>
              <a:t>git log --</a:t>
            </a:r>
            <a:r>
              <a:rPr dirty="0" err="1"/>
              <a:t>oneline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365760" y="6217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Complete Git Commands Masterclass | DevOps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Git Installation &amp; Setup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05840"/>
            <a:ext cx="4937760" cy="4389120"/>
          </a:xfrm>
          <a:prstGeom prst="roundRect">
            <a:avLst/>
          </a:prstGeom>
          <a:solidFill>
            <a:srgbClr val="FFFFF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43891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2F3D"/>
                </a:solidFill>
              </a:defRPr>
            </a:pPr>
            <a:r>
              <a:t>git --version</a:t>
            </a:r>
          </a:p>
          <a:p>
            <a:pPr>
              <a:defRPr sz="2000">
                <a:solidFill>
                  <a:srgbClr val="212F3D"/>
                </a:solidFill>
              </a:defRPr>
            </a:pPr>
            <a:r>
              <a:t>git config --global user.name 'John'</a:t>
            </a:r>
          </a:p>
          <a:p>
            <a:pPr>
              <a:defRPr sz="2000">
                <a:solidFill>
                  <a:srgbClr val="212F3D"/>
                </a:solidFill>
              </a:defRPr>
            </a:pPr>
            <a:r>
              <a:t>git config --global user.email 'john@example.com'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60" y="1002323"/>
            <a:ext cx="5303520" cy="4114800"/>
          </a:xfrm>
          <a:prstGeom prst="roundRect">
            <a:avLst/>
          </a:prstGeom>
          <a:solidFill>
            <a:srgbClr val="212F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0" y="1463040"/>
            <a:ext cx="475488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ECC71"/>
                </a:solidFill>
                <a:latin typeface="Courier New"/>
              </a:defRPr>
            </a:pPr>
            <a:r>
              <a:rPr dirty="0"/>
              <a:t>git --version</a:t>
            </a:r>
          </a:p>
          <a:p>
            <a:pPr>
              <a:defRPr sz="1800">
                <a:solidFill>
                  <a:srgbClr val="2ECC71"/>
                </a:solidFill>
                <a:latin typeface="Courier New"/>
              </a:defRPr>
            </a:pPr>
            <a:r>
              <a:rPr dirty="0"/>
              <a:t>git config --global user.name 'John'</a:t>
            </a:r>
          </a:p>
          <a:p>
            <a:pPr>
              <a:defRPr sz="1800">
                <a:solidFill>
                  <a:srgbClr val="2ECC71"/>
                </a:solidFill>
                <a:latin typeface="Courier New"/>
              </a:defRPr>
            </a:pPr>
            <a:r>
              <a:rPr dirty="0"/>
              <a:t>git config --global </a:t>
            </a:r>
            <a:r>
              <a:rPr dirty="0" err="1"/>
              <a:t>user.email</a:t>
            </a:r>
            <a:r>
              <a:rPr dirty="0"/>
              <a:t> 'john@example.com'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217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Complete Git Commands Masterclass | DevOps Training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Creating Repositories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4937760" cy="4389120"/>
          </a:xfrm>
          <a:prstGeom prst="roundRect">
            <a:avLst/>
          </a:prstGeom>
          <a:solidFill>
            <a:srgbClr val="FFFFF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43891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2F3D"/>
                </a:solidFill>
              </a:defRPr>
            </a:pPr>
            <a:r>
              <a:t>git init</a:t>
            </a:r>
          </a:p>
          <a:p>
            <a:pPr>
              <a:defRPr sz="2000">
                <a:solidFill>
                  <a:srgbClr val="212F3D"/>
                </a:solidFill>
              </a:defRPr>
            </a:pPr>
            <a:r>
              <a:t>git clone &lt;repo_url&gt;</a:t>
            </a:r>
          </a:p>
          <a:p>
            <a:pPr>
              <a:defRPr sz="2000">
                <a:solidFill>
                  <a:srgbClr val="212F3D"/>
                </a:solidFill>
              </a:defRPr>
            </a:pPr>
            <a:r>
              <a:t>git status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188720"/>
            <a:ext cx="5303520" cy="4114800"/>
          </a:xfrm>
          <a:prstGeom prst="roundRect">
            <a:avLst/>
          </a:prstGeom>
          <a:solidFill>
            <a:srgbClr val="212F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0" y="1463040"/>
            <a:ext cx="475488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ECC71"/>
                </a:solidFill>
                <a:latin typeface="Courier New"/>
              </a:defRPr>
            </a:pPr>
            <a:r>
              <a:t>git init</a:t>
            </a:r>
          </a:p>
          <a:p>
            <a:pPr>
              <a:defRPr sz="1800">
                <a:solidFill>
                  <a:srgbClr val="2ECC71"/>
                </a:solidFill>
                <a:latin typeface="Courier New"/>
              </a:defRPr>
            </a:pPr>
            <a:r>
              <a:t>git clone &lt;repo_url&gt;</a:t>
            </a:r>
          </a:p>
          <a:p>
            <a:pPr>
              <a:defRPr sz="1800">
                <a:solidFill>
                  <a:srgbClr val="2ECC71"/>
                </a:solidFill>
                <a:latin typeface="Courier New"/>
              </a:defRPr>
            </a:pPr>
            <a:r>
              <a:t>git 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217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Complete Git Commands Masterclass | DevOps Training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Tracking Changes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4937760" cy="4389120"/>
          </a:xfrm>
          <a:prstGeom prst="roundRect">
            <a:avLst/>
          </a:prstGeom>
          <a:solidFill>
            <a:srgbClr val="FFFFF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43891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2F3D"/>
                </a:solidFill>
              </a:defRPr>
            </a:pPr>
            <a:r>
              <a:t>git add .</a:t>
            </a:r>
          </a:p>
          <a:p>
            <a:pPr>
              <a:defRPr sz="2000">
                <a:solidFill>
                  <a:srgbClr val="212F3D"/>
                </a:solidFill>
              </a:defRPr>
            </a:pPr>
            <a:r>
              <a:t>git commit -m 'Initial commit'</a:t>
            </a:r>
          </a:p>
          <a:p>
            <a:pPr>
              <a:defRPr sz="2000">
                <a:solidFill>
                  <a:srgbClr val="212F3D"/>
                </a:solidFill>
              </a:defRPr>
            </a:pPr>
            <a:r>
              <a:t>git log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188720"/>
            <a:ext cx="5303520" cy="4114800"/>
          </a:xfrm>
          <a:prstGeom prst="roundRect">
            <a:avLst/>
          </a:prstGeom>
          <a:solidFill>
            <a:srgbClr val="212F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0" y="1463040"/>
            <a:ext cx="475488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ECC71"/>
                </a:solidFill>
                <a:latin typeface="Courier New"/>
              </a:defRPr>
            </a:pPr>
            <a:r>
              <a:t>git add .</a:t>
            </a:r>
          </a:p>
          <a:p>
            <a:pPr>
              <a:defRPr sz="1800">
                <a:solidFill>
                  <a:srgbClr val="2ECC71"/>
                </a:solidFill>
                <a:latin typeface="Courier New"/>
              </a:defRPr>
            </a:pPr>
            <a:r>
              <a:t>git commit -m 'Initial commit'</a:t>
            </a:r>
          </a:p>
          <a:p>
            <a:pPr>
              <a:defRPr sz="1800">
                <a:solidFill>
                  <a:srgbClr val="2ECC71"/>
                </a:solidFill>
                <a:latin typeface="Courier New"/>
              </a:defRPr>
            </a:pPr>
            <a:r>
              <a:t>git 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217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Complete Git Commands Masterclass | DevOps Training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Working with Branches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4937760" cy="4389120"/>
          </a:xfrm>
          <a:prstGeom prst="roundRect">
            <a:avLst/>
          </a:prstGeom>
          <a:solidFill>
            <a:srgbClr val="FFFFF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43891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2F3D"/>
                </a:solidFill>
              </a:defRPr>
            </a:pPr>
            <a:r>
              <a:t>git branch feature-login</a:t>
            </a:r>
          </a:p>
          <a:p>
            <a:pPr>
              <a:defRPr sz="2000">
                <a:solidFill>
                  <a:srgbClr val="212F3D"/>
                </a:solidFill>
              </a:defRPr>
            </a:pPr>
            <a:r>
              <a:t>git checkout feature-login</a:t>
            </a:r>
          </a:p>
          <a:p>
            <a:pPr>
              <a:defRPr sz="2000">
                <a:solidFill>
                  <a:srgbClr val="212F3D"/>
                </a:solidFill>
              </a:defRPr>
            </a:pPr>
            <a:r>
              <a:t>git switch main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188720"/>
            <a:ext cx="5303520" cy="4114800"/>
          </a:xfrm>
          <a:prstGeom prst="roundRect">
            <a:avLst/>
          </a:prstGeom>
          <a:solidFill>
            <a:srgbClr val="212F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0" y="1463040"/>
            <a:ext cx="475488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ECC71"/>
                </a:solidFill>
                <a:latin typeface="Courier New"/>
              </a:defRPr>
            </a:pPr>
            <a:r>
              <a:t>git branch feature-login</a:t>
            </a:r>
          </a:p>
          <a:p>
            <a:pPr>
              <a:defRPr sz="1800">
                <a:solidFill>
                  <a:srgbClr val="2ECC71"/>
                </a:solidFill>
                <a:latin typeface="Courier New"/>
              </a:defRPr>
            </a:pPr>
            <a:r>
              <a:t>git checkout feature-login</a:t>
            </a:r>
          </a:p>
          <a:p>
            <a:pPr>
              <a:defRPr sz="1800">
                <a:solidFill>
                  <a:srgbClr val="2ECC71"/>
                </a:solidFill>
                <a:latin typeface="Courier New"/>
              </a:defRPr>
            </a:pPr>
            <a:r>
              <a:t>git switch 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217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Complete Git Commands Masterclass | DevOps Training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Merging &amp; Rebasing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4937760" cy="4389120"/>
          </a:xfrm>
          <a:prstGeom prst="roundRect">
            <a:avLst/>
          </a:prstGeom>
          <a:solidFill>
            <a:srgbClr val="FFFFF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43891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2F3D"/>
                </a:solidFill>
              </a:defRPr>
            </a:pPr>
            <a:r>
              <a:t>git merge feature-login</a:t>
            </a:r>
          </a:p>
          <a:p>
            <a:pPr>
              <a:defRPr sz="2000">
                <a:solidFill>
                  <a:srgbClr val="212F3D"/>
                </a:solidFill>
              </a:defRPr>
            </a:pPr>
            <a:r>
              <a:t>git rebase main</a:t>
            </a:r>
          </a:p>
          <a:p>
            <a:pPr>
              <a:defRPr sz="2000">
                <a:solidFill>
                  <a:srgbClr val="212F3D"/>
                </a:solidFill>
              </a:defRPr>
            </a:pPr>
            <a:r>
              <a:t>git cherry-pick &lt;commit-id&gt;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188720"/>
            <a:ext cx="5303520" cy="4114800"/>
          </a:xfrm>
          <a:prstGeom prst="roundRect">
            <a:avLst/>
          </a:prstGeom>
          <a:solidFill>
            <a:srgbClr val="212F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0" y="1463040"/>
            <a:ext cx="475488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ECC71"/>
                </a:solidFill>
                <a:latin typeface="Courier New"/>
              </a:defRPr>
            </a:pPr>
            <a:r>
              <a:t>git merge feature-login</a:t>
            </a:r>
          </a:p>
          <a:p>
            <a:pPr>
              <a:defRPr sz="1800">
                <a:solidFill>
                  <a:srgbClr val="2ECC71"/>
                </a:solidFill>
                <a:latin typeface="Courier New"/>
              </a:defRPr>
            </a:pPr>
            <a:r>
              <a:t>git rebase main</a:t>
            </a:r>
          </a:p>
          <a:p>
            <a:pPr>
              <a:defRPr sz="1800">
                <a:solidFill>
                  <a:srgbClr val="2ECC71"/>
                </a:solidFill>
                <a:latin typeface="Courier New"/>
              </a:defRPr>
            </a:pPr>
            <a:r>
              <a:t>git cherry-pick &lt;commit-id&gt;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217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Complete Git Commands Masterclass | DevOps Training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Remote Repositories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4937760" cy="4389120"/>
          </a:xfrm>
          <a:prstGeom prst="roundRect">
            <a:avLst/>
          </a:prstGeom>
          <a:solidFill>
            <a:srgbClr val="FFFFF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43891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2F3D"/>
                </a:solidFill>
              </a:defRPr>
            </a:pPr>
            <a:r>
              <a:t>git remote add origin &lt;url&gt;</a:t>
            </a:r>
          </a:p>
          <a:p>
            <a:pPr>
              <a:defRPr sz="2000">
                <a:solidFill>
                  <a:srgbClr val="212F3D"/>
                </a:solidFill>
              </a:defRPr>
            </a:pPr>
            <a:r>
              <a:t>git push origin main</a:t>
            </a:r>
          </a:p>
          <a:p>
            <a:pPr>
              <a:defRPr sz="2000">
                <a:solidFill>
                  <a:srgbClr val="212F3D"/>
                </a:solidFill>
              </a:defRPr>
            </a:pPr>
            <a:r>
              <a:t>git pull origin main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188720"/>
            <a:ext cx="5303520" cy="4114800"/>
          </a:xfrm>
          <a:prstGeom prst="roundRect">
            <a:avLst/>
          </a:prstGeom>
          <a:solidFill>
            <a:srgbClr val="212F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0" y="1463040"/>
            <a:ext cx="475488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ECC71"/>
                </a:solidFill>
                <a:latin typeface="Courier New"/>
              </a:defRPr>
            </a:pPr>
            <a:r>
              <a:t>git remote add origin &lt;url&gt;</a:t>
            </a:r>
          </a:p>
          <a:p>
            <a:pPr>
              <a:defRPr sz="1800">
                <a:solidFill>
                  <a:srgbClr val="2ECC71"/>
                </a:solidFill>
                <a:latin typeface="Courier New"/>
              </a:defRPr>
            </a:pPr>
            <a:r>
              <a:t>git push origin main</a:t>
            </a:r>
          </a:p>
          <a:p>
            <a:pPr>
              <a:defRPr sz="1800">
                <a:solidFill>
                  <a:srgbClr val="2ECC71"/>
                </a:solidFill>
                <a:latin typeface="Courier New"/>
              </a:defRPr>
            </a:pPr>
            <a:r>
              <a:t>git pull origin 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217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Complete Git Commands Masterclass | DevOps Training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Undoing Changes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4937760" cy="4389120"/>
          </a:xfrm>
          <a:prstGeom prst="roundRect">
            <a:avLst/>
          </a:prstGeom>
          <a:solidFill>
            <a:srgbClr val="FFFFF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43891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2F3D"/>
                </a:solidFill>
              </a:defRPr>
            </a:pPr>
            <a:r>
              <a:t>git reset --soft HEAD~1</a:t>
            </a:r>
          </a:p>
          <a:p>
            <a:pPr>
              <a:defRPr sz="2000">
                <a:solidFill>
                  <a:srgbClr val="212F3D"/>
                </a:solidFill>
              </a:defRPr>
            </a:pPr>
            <a:r>
              <a:t>git revert &lt;commit-id&gt;</a:t>
            </a:r>
          </a:p>
          <a:p>
            <a:pPr>
              <a:defRPr sz="2000">
                <a:solidFill>
                  <a:srgbClr val="212F3D"/>
                </a:solidFill>
              </a:defRPr>
            </a:pPr>
            <a:r>
              <a:t>git restore file.txt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188720"/>
            <a:ext cx="5303520" cy="4114800"/>
          </a:xfrm>
          <a:prstGeom prst="roundRect">
            <a:avLst/>
          </a:prstGeom>
          <a:solidFill>
            <a:srgbClr val="212F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0" y="1463040"/>
            <a:ext cx="475488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ECC71"/>
                </a:solidFill>
                <a:latin typeface="Courier New"/>
              </a:defRPr>
            </a:pPr>
            <a:r>
              <a:t>git reset --soft HEAD~1</a:t>
            </a:r>
          </a:p>
          <a:p>
            <a:pPr>
              <a:defRPr sz="1800">
                <a:solidFill>
                  <a:srgbClr val="2ECC71"/>
                </a:solidFill>
                <a:latin typeface="Courier New"/>
              </a:defRPr>
            </a:pPr>
            <a:r>
              <a:t>git revert &lt;commit-id&gt;</a:t>
            </a:r>
          </a:p>
          <a:p>
            <a:pPr>
              <a:defRPr sz="1800">
                <a:solidFill>
                  <a:srgbClr val="2ECC71"/>
                </a:solidFill>
                <a:latin typeface="Courier New"/>
              </a:defRPr>
            </a:pPr>
            <a:r>
              <a:t>git restore file.txt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217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Complete Git Commands Masterclass | DevOps Training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Advanced Git Commands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4937760" cy="4389120"/>
          </a:xfrm>
          <a:prstGeom prst="roundRect">
            <a:avLst/>
          </a:prstGeom>
          <a:solidFill>
            <a:srgbClr val="FFFFF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43891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2F3D"/>
                </a:solidFill>
              </a:defRPr>
            </a:pPr>
            <a:r>
              <a:t>git stash</a:t>
            </a:r>
          </a:p>
          <a:p>
            <a:pPr>
              <a:defRPr sz="2000">
                <a:solidFill>
                  <a:srgbClr val="212F3D"/>
                </a:solidFill>
              </a:defRPr>
            </a:pPr>
            <a:r>
              <a:t>git tag v1.0</a:t>
            </a:r>
          </a:p>
          <a:p>
            <a:pPr>
              <a:defRPr sz="2000">
                <a:solidFill>
                  <a:srgbClr val="212F3D"/>
                </a:solidFill>
              </a:defRPr>
            </a:pPr>
            <a:r>
              <a:t>git reflog</a:t>
            </a:r>
          </a:p>
          <a:p>
            <a:pPr>
              <a:defRPr sz="2000">
                <a:solidFill>
                  <a:srgbClr val="212F3D"/>
                </a:solidFill>
              </a:defRPr>
            </a:pPr>
            <a:r>
              <a:t>git bisect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188720"/>
            <a:ext cx="5303520" cy="4114800"/>
          </a:xfrm>
          <a:prstGeom prst="roundRect">
            <a:avLst/>
          </a:prstGeom>
          <a:solidFill>
            <a:srgbClr val="212F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0" y="1463040"/>
            <a:ext cx="475488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ECC71"/>
                </a:solidFill>
                <a:latin typeface="Courier New"/>
              </a:defRPr>
            </a:pPr>
            <a:r>
              <a:t>git stash</a:t>
            </a:r>
          </a:p>
          <a:p>
            <a:pPr>
              <a:defRPr sz="1800">
                <a:solidFill>
                  <a:srgbClr val="2ECC71"/>
                </a:solidFill>
                <a:latin typeface="Courier New"/>
              </a:defRPr>
            </a:pPr>
            <a:r>
              <a:t>git tag v1.0</a:t>
            </a:r>
          </a:p>
          <a:p>
            <a:pPr>
              <a:defRPr sz="1800">
                <a:solidFill>
                  <a:srgbClr val="2ECC71"/>
                </a:solidFill>
                <a:latin typeface="Courier New"/>
              </a:defRPr>
            </a:pPr>
            <a:r>
              <a:t>git reflog</a:t>
            </a:r>
          </a:p>
          <a:p>
            <a:pPr>
              <a:defRPr sz="1800">
                <a:solidFill>
                  <a:srgbClr val="2ECC71"/>
                </a:solidFill>
                <a:latin typeface="Courier New"/>
              </a:defRPr>
            </a:pPr>
            <a:r>
              <a:t>git bisect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217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Complete Git Commands Masterclass | DevOps Training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Git Best Practices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4937760" cy="4389120"/>
          </a:xfrm>
          <a:prstGeom prst="roundRect">
            <a:avLst/>
          </a:prstGeom>
          <a:solidFill>
            <a:srgbClr val="FFFFF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43891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2F3D"/>
                </a:solidFill>
              </a:defRPr>
            </a:pPr>
            <a:r>
              <a:t>Use meaningful commit messages</a:t>
            </a:r>
          </a:p>
          <a:p>
            <a:pPr>
              <a:defRPr sz="2000">
                <a:solidFill>
                  <a:srgbClr val="212F3D"/>
                </a:solidFill>
              </a:defRPr>
            </a:pPr>
            <a:r>
              <a:t>Branch strategy</a:t>
            </a:r>
          </a:p>
          <a:p>
            <a:pPr>
              <a:defRPr sz="2000">
                <a:solidFill>
                  <a:srgbClr val="212F3D"/>
                </a:solidFill>
              </a:defRPr>
            </a:pPr>
            <a:r>
              <a:t>Pull requests</a:t>
            </a:r>
          </a:p>
          <a:p>
            <a:pPr>
              <a:defRPr sz="2000">
                <a:solidFill>
                  <a:srgbClr val="212F3D"/>
                </a:solidFill>
              </a:defRPr>
            </a:pPr>
            <a:r>
              <a:t>Code reviews</a:t>
            </a:r>
          </a:p>
          <a:p>
            <a:pPr>
              <a:defRPr sz="2000">
                <a:solidFill>
                  <a:srgbClr val="212F3D"/>
                </a:solidFill>
              </a:defRPr>
            </a:pPr>
            <a:r>
              <a:t>CI/CD integration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188720"/>
            <a:ext cx="5303520" cy="4114800"/>
          </a:xfrm>
          <a:prstGeom prst="roundRect">
            <a:avLst/>
          </a:prstGeom>
          <a:solidFill>
            <a:srgbClr val="212F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0" y="1463040"/>
            <a:ext cx="475488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ECC71"/>
                </a:solidFill>
                <a:latin typeface="Courier New"/>
              </a:defRPr>
            </a:pPr>
            <a:r>
              <a:t>Use meaningful commit messages</a:t>
            </a:r>
          </a:p>
          <a:p>
            <a:pPr>
              <a:defRPr sz="1800">
                <a:solidFill>
                  <a:srgbClr val="2ECC71"/>
                </a:solidFill>
                <a:latin typeface="Courier New"/>
              </a:defRPr>
            </a:pPr>
            <a:r>
              <a:t>Branch strategy</a:t>
            </a:r>
          </a:p>
          <a:p>
            <a:pPr>
              <a:defRPr sz="1800">
                <a:solidFill>
                  <a:srgbClr val="2ECC71"/>
                </a:solidFill>
                <a:latin typeface="Courier New"/>
              </a:defRPr>
            </a:pPr>
            <a:r>
              <a:t>Pull requests</a:t>
            </a:r>
          </a:p>
          <a:p>
            <a:pPr>
              <a:defRPr sz="1800">
                <a:solidFill>
                  <a:srgbClr val="2ECC71"/>
                </a:solidFill>
                <a:latin typeface="Courier New"/>
              </a:defRPr>
            </a:pPr>
            <a:r>
              <a:t>Code reviews</a:t>
            </a:r>
          </a:p>
          <a:p>
            <a:pPr>
              <a:defRPr sz="1800">
                <a:solidFill>
                  <a:srgbClr val="2ECC71"/>
                </a:solidFill>
                <a:latin typeface="Courier New"/>
              </a:defRPr>
            </a:pPr>
            <a:r>
              <a:t>CI/CD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217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Complete Git Commands Masterclass | DevOps Training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371</Words>
  <Application>Microsoft Office PowerPoint</Application>
  <PresentationFormat>On-screen Show (4:3)</PresentationFormat>
  <Paragraphs>88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we</cp:lastModifiedBy>
  <cp:revision>2</cp:revision>
  <dcterms:created xsi:type="dcterms:W3CDTF">2013-01-27T09:14:16Z</dcterms:created>
  <dcterms:modified xsi:type="dcterms:W3CDTF">2026-05-28T13:42:28Z</dcterms:modified>
  <cp:category/>
</cp:coreProperties>
</file>